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21E4F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097280"/>
            <a:ext cx="4206240" cy="4206240"/>
          </a:xfrm>
          <a:prstGeom prst="ellipse">
            <a:avLst/>
          </a:prstGeom>
          <a:solidFill>
            <a:srgbClr val="22358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82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INTRODUCTION  ·  DIFFERS FROM THE STANDARD BRIEF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Shelf</a:t>
            </a:r>
            <a:pPr indent="0" marL="0">
              <a:buNone/>
            </a:pPr>
            <a:r>
              <a:rPr lang="en-US" sz="6000" b="1" dirty="0">
                <a:solidFill>
                  <a:srgbClr val="F582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Bound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online bookstore — built from scratch instead of the batch's standard food-delivery app.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383280"/>
            <a:ext cx="7863840" cy="0"/>
          </a:xfrm>
          <a:prstGeom prst="line">
            <a:avLst/>
          </a:prstGeom>
          <a:noFill/>
          <a:ln w="12700">
            <a:solidFill>
              <a:srgbClr val="3A4A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703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82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0" y="370332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books by category with search, ratings, and live pricing.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4572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82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Engage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0" y="457200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Wishlist, cart, and a WELCOME20 coupon flow tuned like a real storefront.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5440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82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00400" y="544068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admin panel for books, orders, and customer replies.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ShelfBound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582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1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3F5FB"/>
          </a:solidFill>
          <a:ln w="12700">
            <a:solidFill>
              <a:srgbClr val="E1E4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5623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B2A6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56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82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78308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&amp; Backend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63040" y="2167128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— Jakarta Servlets, JSP (MVC / DAO architecture)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3F5FB"/>
          </a:solidFill>
          <a:ln w="12700">
            <a:solidFill>
              <a:srgbClr val="E1E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185623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B2A6B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856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82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69480" y="178308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69480" y="2167128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— 9 relational tables with foreign-key constraints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1546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3F5FB"/>
          </a:solidFill>
          <a:ln w="12700">
            <a:solidFill>
              <a:srgbClr val="E1E4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41071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B2A6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410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82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33756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63040" y="3721608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Tomcat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31546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3F5FB"/>
          </a:solidFill>
          <a:ln w="12700">
            <a:solidFill>
              <a:srgbClr val="E1E4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341071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B2A6B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410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82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69480" y="333756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269480" y="3721608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JSP, CSS, JavaScript, AJAX (Fetch API) for dynamic UI updates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47091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3F5FB"/>
          </a:solidFill>
          <a:ln w="12700">
            <a:solidFill>
              <a:srgbClr val="E1E4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96519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B2A6B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965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82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63040" y="489204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463040" y="5276088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09360" y="47091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3F5FB"/>
          </a:solidFill>
          <a:ln w="12700">
            <a:solidFill>
              <a:srgbClr val="E1E4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0" y="496519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B2A6B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0" y="4965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82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269480" y="489204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269480" y="5276088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ShelfBound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582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1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Structure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/ DAO layered architecture — Java packages on the backend, role-split JSP views on the frontend, standard Maven packaging.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48056" y="1682496"/>
            <a:ext cx="3645408" cy="4087368"/>
          </a:xfrm>
          <a:prstGeom prst="roundRect">
            <a:avLst>
              <a:gd name="adj" fmla="val 1505"/>
            </a:avLst>
          </a:prstGeom>
          <a:solidFill>
            <a:srgbClr val="121E4F"/>
          </a:solidFill>
          <a:ln/>
          <a:effectLst>
            <a:outerShdw sx="100000" sy="100000" kx="0" ky="0" algn="bl" rotWithShape="0" blurRad="101600" dist="38100" dir="5400000">
              <a:srgbClr val="111111">
                <a:alpha val="25000"/>
              </a:srgbClr>
            </a:outerShdw>
          </a:effectLst>
        </p:spPr>
      </p:sp>
      <p:pic>
        <p:nvPicPr>
          <p:cNvPr id="6" name="Image 0" descr="/home/claude/shelfbound/assets/folder3_eclips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737360"/>
            <a:ext cx="3535680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5843016"/>
            <a:ext cx="353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Resources — com.shelfbound.* (connection, dao, daoimpl, model, servlet, servlet.admin, util)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258056" y="1682496"/>
            <a:ext cx="3645408" cy="4087368"/>
          </a:xfrm>
          <a:prstGeom prst="roundRect">
            <a:avLst>
              <a:gd name="adj" fmla="val 1505"/>
            </a:avLst>
          </a:prstGeom>
          <a:solidFill>
            <a:srgbClr val="121E4F"/>
          </a:solidFill>
          <a:ln/>
          <a:effectLst>
            <a:outerShdw sx="100000" sy="100000" kx="0" ky="0" algn="bl" rotWithShape="0" blurRad="101600" dist="38100" dir="5400000">
              <a:srgbClr val="111111">
                <a:alpha val="25000"/>
              </a:srgbClr>
            </a:outerShdw>
          </a:effectLst>
        </p:spPr>
      </p:sp>
      <p:pic>
        <p:nvPicPr>
          <p:cNvPr id="9" name="Image 1" descr="/home/claude/shelfbound/assets/folder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12920" y="1737360"/>
            <a:ext cx="3535680" cy="3977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12920" y="5843016"/>
            <a:ext cx="353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webapp/ — css/ · images/ · js/ · videos/ · customer/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8068056" y="1682496"/>
            <a:ext cx="3645408" cy="4087368"/>
          </a:xfrm>
          <a:prstGeom prst="roundRect">
            <a:avLst>
              <a:gd name="adj" fmla="val 1505"/>
            </a:avLst>
          </a:prstGeom>
          <a:solidFill>
            <a:srgbClr val="121E4F"/>
          </a:solidFill>
          <a:ln/>
          <a:effectLst>
            <a:outerShdw sx="100000" sy="100000" kx="0" ky="0" algn="bl" rotWithShape="0" blurRad="101600" dist="38100" dir="5400000">
              <a:srgbClr val="111111">
                <a:alpha val="25000"/>
              </a:srgbClr>
            </a:outerShdw>
          </a:effectLst>
        </p:spPr>
      </p:sp>
      <p:pic>
        <p:nvPicPr>
          <p:cNvPr id="12" name="Image 2" descr="/home/claude/shelfbound/assets/folder2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2920" y="1737360"/>
            <a:ext cx="3535680" cy="3977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22920" y="5843016"/>
            <a:ext cx="353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customer/ views · META-INF/ · WEB-INF/ (lib, web.xml)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502920" y="6172200"/>
            <a:ext cx="3596640" cy="502920"/>
          </a:xfrm>
          <a:prstGeom prst="roundRect">
            <a:avLst>
              <a:gd name="adj" fmla="val 10909"/>
            </a:avLst>
          </a:prstGeom>
          <a:solidFill>
            <a:srgbClr val="F3F5FB"/>
          </a:solidFill>
          <a:ln w="12700">
            <a:solidFill>
              <a:srgbClr val="E1E4EE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67512" y="6172200"/>
            <a:ext cx="32674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21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+ DAO — servlets as controllers, DAO/DAOImpl for data access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4282440" y="6172200"/>
            <a:ext cx="3596640" cy="502920"/>
          </a:xfrm>
          <a:prstGeom prst="roundRect">
            <a:avLst>
              <a:gd name="adj" fmla="val 10909"/>
            </a:avLst>
          </a:prstGeom>
          <a:solidFill>
            <a:srgbClr val="F3F5FB"/>
          </a:solidFill>
          <a:ln w="12700">
            <a:solidFill>
              <a:srgbClr val="E1E4EE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447032" y="6172200"/>
            <a:ext cx="32674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21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servlet per feature — Cart, Wishlist, Order, Admin*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8061960" y="6172200"/>
            <a:ext cx="3596640" cy="502920"/>
          </a:xfrm>
          <a:prstGeom prst="roundRect">
            <a:avLst>
              <a:gd name="adj" fmla="val 10909"/>
            </a:avLst>
          </a:prstGeom>
          <a:solidFill>
            <a:srgbClr val="F3F5FB"/>
          </a:solidFill>
          <a:ln w="12700">
            <a:solidFill>
              <a:srgbClr val="E1E4EE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226552" y="6172200"/>
            <a:ext cx="32674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21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Per-page CSS — isolates styling bugs instead of one shared file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50292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ShelfBound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582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1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 Diagram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tables  ·  lines mark foreign-key relationships  ·  </a:t>
            </a:r>
            <a:pPr indent="0" marL="0">
              <a:buNone/>
            </a:pPr>
            <a:r>
              <a:rPr lang="en-US" sz="1200" b="1" dirty="0">
                <a:solidFill>
                  <a:srgbClr val="121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one</a:t>
            </a:r>
            <a:pPr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200" b="1" dirty="0">
                <a:solidFill>
                  <a:srgbClr val="F582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many</a:t>
            </a:r>
            <a:pPr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200" b="1" dirty="0">
                <a:solidFill>
                  <a:srgbClr val="F582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pPr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field = primary key, </a:t>
            </a:r>
            <a:pPr indent="0" marL="0">
              <a:buNone/>
            </a:pPr>
            <a:r>
              <a:rPr lang="en-US" sz="1200" b="1" dirty="0">
                <a:solidFill>
                  <a:srgbClr val="3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pPr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field = foreign key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738360" y="1783080"/>
            <a:ext cx="2103120" cy="3794760"/>
          </a:xfrm>
          <a:prstGeom prst="roundRect">
            <a:avLst>
              <a:gd name="adj" fmla="val 2609"/>
            </a:avLst>
          </a:prstGeom>
          <a:solidFill>
            <a:srgbClr val="F7F7FA"/>
          </a:solidFill>
          <a:ln w="12700">
            <a:solidFill>
              <a:srgbClr val="C7CBDA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738360" y="184708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440180" y="3108960"/>
            <a:ext cx="914" cy="1783080"/>
          </a:xfrm>
          <a:prstGeom prst="line">
            <a:avLst/>
          </a:prstGeom>
          <a:noFill/>
          <a:ln w="17780">
            <a:solidFill>
              <a:srgbClr val="A7AE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99032" y="3067812"/>
            <a:ext cx="82296" cy="82296"/>
          </a:xfrm>
          <a:prstGeom prst="ellipse">
            <a:avLst/>
          </a:prstGeom>
          <a:solidFill>
            <a:srgbClr val="121E4F"/>
          </a:solidFill>
          <a:ln/>
        </p:spPr>
      </p:sp>
      <p:sp>
        <p:nvSpPr>
          <p:cNvPr id="9" name="Shape 7"/>
          <p:cNvSpPr/>
          <p:nvPr/>
        </p:nvSpPr>
        <p:spPr>
          <a:xfrm>
            <a:off x="1394460" y="4846320"/>
            <a:ext cx="91440" cy="9144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F5820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23160" y="2446020"/>
            <a:ext cx="301752" cy="914"/>
          </a:xfrm>
          <a:prstGeom prst="line">
            <a:avLst/>
          </a:prstGeom>
          <a:noFill/>
          <a:ln w="17780">
            <a:solidFill>
              <a:srgbClr val="A7AE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82012" y="2404872"/>
            <a:ext cx="82296" cy="82296"/>
          </a:xfrm>
          <a:prstGeom prst="ellipse">
            <a:avLst/>
          </a:prstGeom>
          <a:solidFill>
            <a:srgbClr val="121E4F"/>
          </a:solidFill>
          <a:ln/>
        </p:spPr>
      </p:sp>
      <p:sp>
        <p:nvSpPr>
          <p:cNvPr id="12" name="Shape 10"/>
          <p:cNvSpPr/>
          <p:nvPr/>
        </p:nvSpPr>
        <p:spPr>
          <a:xfrm>
            <a:off x="2679192" y="2400300"/>
            <a:ext cx="91440" cy="9144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F5820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23160" y="2446020"/>
            <a:ext cx="301752" cy="3108960"/>
          </a:xfrm>
          <a:prstGeom prst="line">
            <a:avLst/>
          </a:prstGeom>
          <a:noFill/>
          <a:ln w="17780">
            <a:solidFill>
              <a:srgbClr val="A7AEC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82012" y="2404872"/>
            <a:ext cx="82296" cy="82296"/>
          </a:xfrm>
          <a:prstGeom prst="ellipse">
            <a:avLst/>
          </a:prstGeom>
          <a:solidFill>
            <a:srgbClr val="121E4F"/>
          </a:solidFill>
          <a:ln/>
        </p:spPr>
      </p:sp>
      <p:sp>
        <p:nvSpPr>
          <p:cNvPr id="15" name="Shape 13"/>
          <p:cNvSpPr/>
          <p:nvPr/>
        </p:nvSpPr>
        <p:spPr>
          <a:xfrm>
            <a:off x="2679192" y="5509260"/>
            <a:ext cx="91440" cy="9144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F5820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 flipV="1">
            <a:off x="4690872" y="2446020"/>
            <a:ext cx="301752" cy="1554480"/>
          </a:xfrm>
          <a:prstGeom prst="line">
            <a:avLst/>
          </a:prstGeom>
          <a:noFill/>
          <a:ln w="17780">
            <a:solidFill>
              <a:srgbClr val="A7AEC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51476" y="3959352"/>
            <a:ext cx="82296" cy="82296"/>
          </a:xfrm>
          <a:prstGeom prst="ellipse">
            <a:avLst/>
          </a:prstGeom>
          <a:solidFill>
            <a:srgbClr val="121E4F"/>
          </a:solidFill>
          <a:ln/>
        </p:spPr>
      </p:sp>
      <p:sp>
        <p:nvSpPr>
          <p:cNvPr id="18" name="Shape 16"/>
          <p:cNvSpPr/>
          <p:nvPr/>
        </p:nvSpPr>
        <p:spPr>
          <a:xfrm>
            <a:off x="4645152" y="2400300"/>
            <a:ext cx="91440" cy="9144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F5820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H="1">
            <a:off x="4690872" y="4000500"/>
            <a:ext cx="301752" cy="1554480"/>
          </a:xfrm>
          <a:prstGeom prst="line">
            <a:avLst/>
          </a:prstGeom>
          <a:noFill/>
          <a:ln w="17780">
            <a:solidFill>
              <a:srgbClr val="A7AEC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51476" y="3959352"/>
            <a:ext cx="82296" cy="82296"/>
          </a:xfrm>
          <a:prstGeom prst="ellipse">
            <a:avLst/>
          </a:prstGeom>
          <a:solidFill>
            <a:srgbClr val="121E4F"/>
          </a:solidFill>
          <a:ln/>
        </p:spPr>
      </p:sp>
      <p:sp>
        <p:nvSpPr>
          <p:cNvPr id="21" name="Shape 19"/>
          <p:cNvSpPr/>
          <p:nvPr/>
        </p:nvSpPr>
        <p:spPr>
          <a:xfrm>
            <a:off x="4645152" y="5509260"/>
            <a:ext cx="91440" cy="9144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F5820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>
            <a:off x="7324344" y="2446020"/>
            <a:ext cx="301752" cy="1554480"/>
          </a:xfrm>
          <a:prstGeom prst="line">
            <a:avLst/>
          </a:prstGeom>
          <a:noFill/>
          <a:ln w="17780">
            <a:solidFill>
              <a:srgbClr val="A7AEC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84948" y="2404872"/>
            <a:ext cx="82296" cy="82296"/>
          </a:xfrm>
          <a:prstGeom prst="ellipse">
            <a:avLst/>
          </a:prstGeom>
          <a:solidFill>
            <a:srgbClr val="121E4F"/>
          </a:solidFill>
          <a:ln/>
        </p:spPr>
      </p:sp>
      <p:sp>
        <p:nvSpPr>
          <p:cNvPr id="24" name="Shape 22"/>
          <p:cNvSpPr/>
          <p:nvPr/>
        </p:nvSpPr>
        <p:spPr>
          <a:xfrm>
            <a:off x="7278624" y="3954780"/>
            <a:ext cx="91440" cy="9144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F5820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24344" y="4000500"/>
            <a:ext cx="301752" cy="1554480"/>
          </a:xfrm>
          <a:prstGeom prst="line">
            <a:avLst/>
          </a:prstGeom>
          <a:noFill/>
          <a:ln w="17780">
            <a:solidFill>
              <a:srgbClr val="A7AEC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83196" y="3959352"/>
            <a:ext cx="82296" cy="82296"/>
          </a:xfrm>
          <a:prstGeom prst="ellipse">
            <a:avLst/>
          </a:prstGeom>
          <a:solidFill>
            <a:srgbClr val="121E4F"/>
          </a:solidFill>
          <a:ln/>
        </p:spPr>
      </p:sp>
      <p:sp>
        <p:nvSpPr>
          <p:cNvPr id="27" name="Shape 25"/>
          <p:cNvSpPr/>
          <p:nvPr/>
        </p:nvSpPr>
        <p:spPr>
          <a:xfrm>
            <a:off x="7580376" y="5509260"/>
            <a:ext cx="91440" cy="9144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F5820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440180" y="6217920"/>
            <a:ext cx="914" cy="109728"/>
          </a:xfrm>
          <a:prstGeom prst="line">
            <a:avLst/>
          </a:prstGeom>
          <a:noFill/>
          <a:ln w="17780">
            <a:solidFill>
              <a:srgbClr val="A7AEC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40180" y="6327648"/>
            <a:ext cx="7168896" cy="914"/>
          </a:xfrm>
          <a:prstGeom prst="line">
            <a:avLst/>
          </a:prstGeom>
          <a:noFill/>
          <a:ln w="17780">
            <a:solidFill>
              <a:srgbClr val="A7AEC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8609076" y="6217920"/>
            <a:ext cx="914" cy="109728"/>
          </a:xfrm>
          <a:prstGeom prst="line">
            <a:avLst/>
          </a:prstGeom>
          <a:noFill/>
          <a:ln w="17780">
            <a:solidFill>
              <a:srgbClr val="A7AEC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99032" y="6176772"/>
            <a:ext cx="82296" cy="82296"/>
          </a:xfrm>
          <a:prstGeom prst="ellipse">
            <a:avLst/>
          </a:prstGeom>
          <a:solidFill>
            <a:srgbClr val="121E4F"/>
          </a:solidFill>
          <a:ln/>
        </p:spPr>
      </p:sp>
      <p:sp>
        <p:nvSpPr>
          <p:cNvPr id="32" name="Shape 30"/>
          <p:cNvSpPr/>
          <p:nvPr/>
        </p:nvSpPr>
        <p:spPr>
          <a:xfrm>
            <a:off x="8563356" y="6172200"/>
            <a:ext cx="91440" cy="9144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F5820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1783080"/>
            <a:ext cx="196596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1E4EE"/>
            </a:solidFill>
            <a:prstDash val="solid"/>
          </a:ln>
          <a:effectLst>
            <a:outerShdw sx="100000" sy="100000" kx="0" ky="0" algn="bl" rotWithShape="0" blurRad="50800" dist="25400" dir="5400000">
              <a:srgbClr val="6B728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1783080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1B2A6B"/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" y="1929384"/>
            <a:ext cx="1965960" cy="146304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1783080"/>
            <a:ext cx="1746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85216" y="2130552"/>
            <a:ext cx="1728216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30" b="1" dirty="0">
                <a:solidFill>
                  <a:srgbClr val="F582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(PK)</a:t>
            </a:r>
            <a:endParaRPr lang="en-US" sz="8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</a:t>
            </a:r>
            <a:endParaRPr lang="en-US" sz="8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8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</a:t>
            </a:r>
            <a:endParaRPr lang="en-US" sz="830" dirty="0"/>
          </a:p>
        </p:txBody>
      </p:sp>
      <p:sp>
        <p:nvSpPr>
          <p:cNvPr id="38" name="Shape 36"/>
          <p:cNvSpPr/>
          <p:nvPr/>
        </p:nvSpPr>
        <p:spPr>
          <a:xfrm>
            <a:off x="457200" y="4892040"/>
            <a:ext cx="196596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1E4EE"/>
            </a:solidFill>
            <a:prstDash val="solid"/>
          </a:ln>
          <a:effectLst>
            <a:outerShdw sx="100000" sy="100000" kx="0" ky="0" algn="bl" rotWithShape="0" blurRad="50800" dist="25400" dir="5400000">
              <a:srgbClr val="6B728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7200" y="4892040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1B2A6B"/>
          </a:solidFill>
          <a:ln/>
        </p:spPr>
      </p:sp>
      <p:sp>
        <p:nvSpPr>
          <p:cNvPr id="40" name="Shape 38"/>
          <p:cNvSpPr/>
          <p:nvPr/>
        </p:nvSpPr>
        <p:spPr>
          <a:xfrm>
            <a:off x="457200" y="5038344"/>
            <a:ext cx="1965960" cy="146304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41" name="Text 39"/>
          <p:cNvSpPr/>
          <p:nvPr/>
        </p:nvSpPr>
        <p:spPr>
          <a:xfrm>
            <a:off x="566928" y="4892040"/>
            <a:ext cx="1746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85216" y="5239512"/>
            <a:ext cx="1728216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30" b="1" dirty="0">
                <a:solidFill>
                  <a:srgbClr val="F582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order_id (PK)</a:t>
            </a:r>
            <a:endParaRPr lang="en-US" sz="8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3A5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(FK)</a:t>
            </a:r>
            <a:endParaRPr lang="en-US" sz="8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total_amount</a:t>
            </a:r>
            <a:endParaRPr lang="en-US" sz="8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order_status</a:t>
            </a:r>
            <a:endParaRPr lang="en-US" sz="830" dirty="0"/>
          </a:p>
        </p:txBody>
      </p:sp>
      <p:sp>
        <p:nvSpPr>
          <p:cNvPr id="43" name="Shape 41"/>
          <p:cNvSpPr/>
          <p:nvPr/>
        </p:nvSpPr>
        <p:spPr>
          <a:xfrm>
            <a:off x="2724912" y="1783080"/>
            <a:ext cx="196596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1E4EE"/>
            </a:solidFill>
            <a:prstDash val="solid"/>
          </a:ln>
          <a:effectLst>
            <a:outerShdw sx="100000" sy="100000" kx="0" ky="0" algn="bl" rotWithShape="0" blurRad="50800" dist="25400" dir="5400000">
              <a:srgbClr val="6B728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724912" y="1783080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1B2A6B"/>
          </a:solidFill>
          <a:ln/>
        </p:spPr>
      </p:sp>
      <p:sp>
        <p:nvSpPr>
          <p:cNvPr id="45" name="Shape 43"/>
          <p:cNvSpPr/>
          <p:nvPr/>
        </p:nvSpPr>
        <p:spPr>
          <a:xfrm>
            <a:off x="2724912" y="1929384"/>
            <a:ext cx="1965960" cy="146304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46" name="Text 44"/>
          <p:cNvSpPr/>
          <p:nvPr/>
        </p:nvSpPr>
        <p:spPr>
          <a:xfrm>
            <a:off x="2834640" y="1783080"/>
            <a:ext cx="1746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2852928" y="2130552"/>
            <a:ext cx="1728216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30" b="1" dirty="0">
                <a:solidFill>
                  <a:srgbClr val="F582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cart_id (PK)</a:t>
            </a:r>
            <a:endParaRPr lang="en-US" sz="8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3A5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(FK)</a:t>
            </a:r>
            <a:endParaRPr lang="en-US" sz="8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3A5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book_id (FK)</a:t>
            </a:r>
            <a:endParaRPr lang="en-US" sz="8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</a:t>
            </a:r>
            <a:endParaRPr lang="en-US" sz="830" dirty="0"/>
          </a:p>
        </p:txBody>
      </p:sp>
      <p:sp>
        <p:nvSpPr>
          <p:cNvPr id="48" name="Shape 46"/>
          <p:cNvSpPr/>
          <p:nvPr/>
        </p:nvSpPr>
        <p:spPr>
          <a:xfrm>
            <a:off x="2724912" y="4892040"/>
            <a:ext cx="196596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1E4EE"/>
            </a:solidFill>
            <a:prstDash val="solid"/>
          </a:ln>
          <a:effectLst>
            <a:outerShdw sx="100000" sy="100000" kx="0" ky="0" algn="bl" rotWithShape="0" blurRad="50800" dist="25400" dir="5400000">
              <a:srgbClr val="6B7280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2724912" y="4892040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1B2A6B"/>
          </a:solidFill>
          <a:ln/>
        </p:spPr>
      </p:sp>
      <p:sp>
        <p:nvSpPr>
          <p:cNvPr id="50" name="Shape 48"/>
          <p:cNvSpPr/>
          <p:nvPr/>
        </p:nvSpPr>
        <p:spPr>
          <a:xfrm>
            <a:off x="2724912" y="5038344"/>
            <a:ext cx="1965960" cy="146304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51" name="Text 49"/>
          <p:cNvSpPr/>
          <p:nvPr/>
        </p:nvSpPr>
        <p:spPr>
          <a:xfrm>
            <a:off x="2834640" y="4892040"/>
            <a:ext cx="1746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2852928" y="5239512"/>
            <a:ext cx="1728216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30" b="1" dirty="0">
                <a:solidFill>
                  <a:srgbClr val="F582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wishlist_id (PK)</a:t>
            </a:r>
            <a:endParaRPr lang="en-US" sz="8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3A5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(FK)</a:t>
            </a:r>
            <a:endParaRPr lang="en-US" sz="8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3A5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book_id (FK)</a:t>
            </a:r>
            <a:endParaRPr lang="en-US" sz="8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added_at</a:t>
            </a:r>
            <a:endParaRPr lang="en-US" sz="830" dirty="0"/>
          </a:p>
        </p:txBody>
      </p:sp>
      <p:sp>
        <p:nvSpPr>
          <p:cNvPr id="53" name="Shape 51"/>
          <p:cNvSpPr/>
          <p:nvPr/>
        </p:nvSpPr>
        <p:spPr>
          <a:xfrm>
            <a:off x="4992624" y="3246120"/>
            <a:ext cx="233172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1E4EE"/>
            </a:solidFill>
            <a:prstDash val="solid"/>
          </a:ln>
          <a:effectLst>
            <a:outerShdw sx="100000" sy="100000" kx="0" ky="0" algn="bl" rotWithShape="0" blurRad="50800" dist="25400" dir="5400000">
              <a:srgbClr val="6B728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992624" y="3246120"/>
            <a:ext cx="2331720" cy="292608"/>
          </a:xfrm>
          <a:prstGeom prst="roundRect">
            <a:avLst>
              <a:gd name="adj" fmla="val 15625"/>
            </a:avLst>
          </a:prstGeom>
          <a:solidFill>
            <a:srgbClr val="F5820D"/>
          </a:solidFill>
          <a:ln/>
        </p:spPr>
      </p:sp>
      <p:sp>
        <p:nvSpPr>
          <p:cNvPr id="55" name="Shape 53"/>
          <p:cNvSpPr/>
          <p:nvPr/>
        </p:nvSpPr>
        <p:spPr>
          <a:xfrm>
            <a:off x="4992624" y="3392424"/>
            <a:ext cx="2331720" cy="146304"/>
          </a:xfrm>
          <a:prstGeom prst="rect">
            <a:avLst/>
          </a:prstGeom>
          <a:solidFill>
            <a:srgbClr val="F5820D"/>
          </a:solidFill>
          <a:ln/>
        </p:spPr>
      </p:sp>
      <p:sp>
        <p:nvSpPr>
          <p:cNvPr id="56" name="Text 54"/>
          <p:cNvSpPr/>
          <p:nvPr/>
        </p:nvSpPr>
        <p:spPr>
          <a:xfrm>
            <a:off x="5102352" y="3246120"/>
            <a:ext cx="2112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120640" y="3593592"/>
            <a:ext cx="2093976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30" b="1" dirty="0">
                <a:solidFill>
                  <a:srgbClr val="F582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book_id (PK)</a:t>
            </a:r>
            <a:endParaRPr lang="en-US" sz="8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3A5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category_id (FK)</a:t>
            </a:r>
            <a:endParaRPr lang="en-US" sz="8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title, author</a:t>
            </a:r>
            <a:endParaRPr lang="en-US" sz="8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price, stock_qty</a:t>
            </a:r>
            <a:endParaRPr lang="en-US" sz="830" dirty="0"/>
          </a:p>
        </p:txBody>
      </p:sp>
      <p:sp>
        <p:nvSpPr>
          <p:cNvPr id="58" name="Shape 56"/>
          <p:cNvSpPr/>
          <p:nvPr/>
        </p:nvSpPr>
        <p:spPr>
          <a:xfrm>
            <a:off x="7626096" y="1783080"/>
            <a:ext cx="196596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1E4EE"/>
            </a:solidFill>
            <a:prstDash val="solid"/>
          </a:ln>
          <a:effectLst>
            <a:outerShdw sx="100000" sy="100000" kx="0" ky="0" algn="bl" rotWithShape="0" blurRad="50800" dist="25400" dir="5400000">
              <a:srgbClr val="6B7280">
                <a:alpha val="1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7626096" y="1783080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1B2A6B"/>
          </a:solidFill>
          <a:ln/>
        </p:spPr>
      </p:sp>
      <p:sp>
        <p:nvSpPr>
          <p:cNvPr id="60" name="Shape 58"/>
          <p:cNvSpPr/>
          <p:nvPr/>
        </p:nvSpPr>
        <p:spPr>
          <a:xfrm>
            <a:off x="7626096" y="1929384"/>
            <a:ext cx="1965960" cy="146304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61" name="Text 59"/>
          <p:cNvSpPr/>
          <p:nvPr/>
        </p:nvSpPr>
        <p:spPr>
          <a:xfrm>
            <a:off x="7735824" y="1783080"/>
            <a:ext cx="1746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7754112" y="2130552"/>
            <a:ext cx="1728216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30" b="1" dirty="0">
                <a:solidFill>
                  <a:srgbClr val="F582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category_id (PK)</a:t>
            </a:r>
            <a:endParaRPr lang="en-US" sz="8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category_name</a:t>
            </a:r>
            <a:endParaRPr lang="en-US" sz="830" dirty="0"/>
          </a:p>
        </p:txBody>
      </p:sp>
      <p:sp>
        <p:nvSpPr>
          <p:cNvPr id="63" name="Shape 61"/>
          <p:cNvSpPr/>
          <p:nvPr/>
        </p:nvSpPr>
        <p:spPr>
          <a:xfrm>
            <a:off x="7626096" y="4892040"/>
            <a:ext cx="196596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1E4EE"/>
            </a:solidFill>
            <a:prstDash val="solid"/>
          </a:ln>
          <a:effectLst>
            <a:outerShdw sx="100000" sy="100000" kx="0" ky="0" algn="bl" rotWithShape="0" blurRad="50800" dist="25400" dir="5400000">
              <a:srgbClr val="6B7280">
                <a:alpha val="1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7626096" y="4892040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1B2A6B"/>
          </a:solidFill>
          <a:ln/>
        </p:spPr>
      </p:sp>
      <p:sp>
        <p:nvSpPr>
          <p:cNvPr id="65" name="Shape 63"/>
          <p:cNvSpPr/>
          <p:nvPr/>
        </p:nvSpPr>
        <p:spPr>
          <a:xfrm>
            <a:off x="7626096" y="5038344"/>
            <a:ext cx="1965960" cy="146304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66" name="Text 64"/>
          <p:cNvSpPr/>
          <p:nvPr/>
        </p:nvSpPr>
        <p:spPr>
          <a:xfrm>
            <a:off x="7735824" y="4892040"/>
            <a:ext cx="1746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7754112" y="5239512"/>
            <a:ext cx="1728216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30" b="1" dirty="0">
                <a:solidFill>
                  <a:srgbClr val="F582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order_item_id (PK)</a:t>
            </a:r>
            <a:endParaRPr lang="en-US" sz="8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3A5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order_id (FK)</a:t>
            </a:r>
            <a:endParaRPr lang="en-US" sz="8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3A5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book_id (FK)</a:t>
            </a:r>
            <a:endParaRPr lang="en-US" sz="8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quantity, price</a:t>
            </a:r>
            <a:endParaRPr lang="en-US" sz="830" dirty="0"/>
          </a:p>
        </p:txBody>
      </p:sp>
      <p:sp>
        <p:nvSpPr>
          <p:cNvPr id="68" name="Shape 66"/>
          <p:cNvSpPr/>
          <p:nvPr/>
        </p:nvSpPr>
        <p:spPr>
          <a:xfrm>
            <a:off x="9893808" y="2084832"/>
            <a:ext cx="1810512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1E4EE"/>
            </a:solidFill>
            <a:prstDash val="solid"/>
          </a:ln>
          <a:effectLst>
            <a:outerShdw sx="100000" sy="100000" kx="0" ky="0" algn="bl" rotWithShape="0" blurRad="50800" dist="25400" dir="5400000">
              <a:srgbClr val="6B7280">
                <a:alpha val="18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9893808" y="2084832"/>
            <a:ext cx="1810512" cy="292608"/>
          </a:xfrm>
          <a:prstGeom prst="roundRect">
            <a:avLst>
              <a:gd name="adj" fmla="val 15625"/>
            </a:avLst>
          </a:prstGeom>
          <a:solidFill>
            <a:srgbClr val="5B6178"/>
          </a:solidFill>
          <a:ln/>
        </p:spPr>
      </p:sp>
      <p:sp>
        <p:nvSpPr>
          <p:cNvPr id="70" name="Shape 68"/>
          <p:cNvSpPr/>
          <p:nvPr/>
        </p:nvSpPr>
        <p:spPr>
          <a:xfrm>
            <a:off x="9893808" y="2231136"/>
            <a:ext cx="1810512" cy="146304"/>
          </a:xfrm>
          <a:prstGeom prst="rect">
            <a:avLst/>
          </a:prstGeom>
          <a:solidFill>
            <a:srgbClr val="5B6178"/>
          </a:solidFill>
          <a:ln/>
        </p:spPr>
      </p:sp>
      <p:sp>
        <p:nvSpPr>
          <p:cNvPr id="71" name="Text 69"/>
          <p:cNvSpPr/>
          <p:nvPr/>
        </p:nvSpPr>
        <p:spPr>
          <a:xfrm>
            <a:off x="10003536" y="2084832"/>
            <a:ext cx="1591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10021824" y="2432304"/>
            <a:ext cx="1572768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30" b="1" dirty="0">
                <a:solidFill>
                  <a:srgbClr val="F582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admin_id (PK)</a:t>
            </a:r>
            <a:endParaRPr lang="en-US" sz="8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</a:t>
            </a:r>
            <a:endParaRPr lang="en-US" sz="8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endParaRPr lang="en-US" sz="830" dirty="0"/>
          </a:p>
        </p:txBody>
      </p:sp>
      <p:sp>
        <p:nvSpPr>
          <p:cNvPr id="73" name="Shape 71"/>
          <p:cNvSpPr/>
          <p:nvPr/>
        </p:nvSpPr>
        <p:spPr>
          <a:xfrm>
            <a:off x="9893808" y="4160520"/>
            <a:ext cx="1810512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1E4EE"/>
            </a:solidFill>
            <a:prstDash val="solid"/>
          </a:ln>
          <a:effectLst>
            <a:outerShdw sx="100000" sy="100000" kx="0" ky="0" algn="bl" rotWithShape="0" blurRad="50800" dist="25400" dir="5400000">
              <a:srgbClr val="6B7280">
                <a:alpha val="18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9893808" y="4160520"/>
            <a:ext cx="1810512" cy="292608"/>
          </a:xfrm>
          <a:prstGeom prst="roundRect">
            <a:avLst>
              <a:gd name="adj" fmla="val 15625"/>
            </a:avLst>
          </a:prstGeom>
          <a:solidFill>
            <a:srgbClr val="5B6178"/>
          </a:solidFill>
          <a:ln/>
        </p:spPr>
      </p:sp>
      <p:sp>
        <p:nvSpPr>
          <p:cNvPr id="75" name="Shape 73"/>
          <p:cNvSpPr/>
          <p:nvPr/>
        </p:nvSpPr>
        <p:spPr>
          <a:xfrm>
            <a:off x="9893808" y="4306824"/>
            <a:ext cx="1810512" cy="146304"/>
          </a:xfrm>
          <a:prstGeom prst="rect">
            <a:avLst/>
          </a:prstGeom>
          <a:solidFill>
            <a:srgbClr val="5B6178"/>
          </a:solidFill>
          <a:ln/>
        </p:spPr>
      </p:sp>
      <p:sp>
        <p:nvSpPr>
          <p:cNvPr id="76" name="Text 74"/>
          <p:cNvSpPr/>
          <p:nvPr/>
        </p:nvSpPr>
        <p:spPr>
          <a:xfrm>
            <a:off x="10003536" y="4160520"/>
            <a:ext cx="1591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contact_messages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10021824" y="4507992"/>
            <a:ext cx="1572768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30" b="1" dirty="0">
                <a:solidFill>
                  <a:srgbClr val="F582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message_id (PK)</a:t>
            </a:r>
            <a:endParaRPr lang="en-US" sz="8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name, email</a:t>
            </a:r>
            <a:endParaRPr lang="en-US" sz="8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endParaRPr lang="en-US" sz="8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reply_status</a:t>
            </a:r>
            <a:endParaRPr lang="en-US" sz="830" dirty="0"/>
          </a:p>
        </p:txBody>
      </p:sp>
      <p:sp>
        <p:nvSpPr>
          <p:cNvPr id="78" name="Text 76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50292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ShelfBound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582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1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 Screenshots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order a shopper moves through the store — browse, decide, buy, track.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566160" cy="2194560"/>
          </a:xfrm>
          <a:prstGeom prst="roundRect">
            <a:avLst>
              <a:gd name="adj" fmla="val 2500"/>
            </a:avLst>
          </a:prstGeom>
          <a:solidFill>
            <a:srgbClr val="121E4F"/>
          </a:solidFill>
          <a:ln/>
          <a:effectLst>
            <a:outerShdw sx="100000" sy="100000" kx="0" ky="0" algn="bl" rotWithShape="0" blurRad="76200" dist="25400" dir="5400000">
              <a:srgbClr val="111111">
                <a:alpha val="22000"/>
              </a:srgbClr>
            </a:outerShdw>
          </a:effectLst>
        </p:spPr>
      </p:sp>
      <p:pic>
        <p:nvPicPr>
          <p:cNvPr id="6" name="Image 0" descr="/home/claude/shelfbound/assets/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1837944"/>
            <a:ext cx="3456432" cy="17556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3593592"/>
            <a:ext cx="3566160" cy="329184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359359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1783080"/>
            <a:ext cx="3566160" cy="2194560"/>
          </a:xfrm>
          <a:prstGeom prst="roundRect">
            <a:avLst>
              <a:gd name="adj" fmla="val 2500"/>
            </a:avLst>
          </a:prstGeom>
          <a:solidFill>
            <a:srgbClr val="121E4F"/>
          </a:solidFill>
          <a:ln/>
          <a:effectLst>
            <a:outerShdw sx="100000" sy="100000" kx="0" ky="0" algn="bl" rotWithShape="0" blurRad="76200" dist="25400" dir="5400000">
              <a:srgbClr val="111111">
                <a:alpha val="22000"/>
              </a:srgbClr>
            </a:outerShdw>
          </a:effectLst>
        </p:spPr>
      </p:sp>
      <p:pic>
        <p:nvPicPr>
          <p:cNvPr id="10" name="Image 1" descr="/home/claude/shelfbound/assets/books_cro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52544" y="1837944"/>
            <a:ext cx="3456432" cy="175564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297680" y="3593592"/>
            <a:ext cx="3566160" cy="329184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12" name="Text 8"/>
          <p:cNvSpPr/>
          <p:nvPr/>
        </p:nvSpPr>
        <p:spPr>
          <a:xfrm>
            <a:off x="4297680" y="359359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092440" y="1783080"/>
            <a:ext cx="3566160" cy="2194560"/>
          </a:xfrm>
          <a:prstGeom prst="roundRect">
            <a:avLst>
              <a:gd name="adj" fmla="val 2500"/>
            </a:avLst>
          </a:prstGeom>
          <a:solidFill>
            <a:srgbClr val="121E4F"/>
          </a:solidFill>
          <a:ln/>
          <a:effectLst>
            <a:outerShdw sx="100000" sy="100000" kx="0" ky="0" algn="bl" rotWithShape="0" blurRad="76200" dist="25400" dir="5400000">
              <a:srgbClr val="111111">
                <a:alpha val="22000"/>
              </a:srgbClr>
            </a:outerShdw>
          </a:effectLst>
        </p:spPr>
      </p:sp>
      <p:pic>
        <p:nvPicPr>
          <p:cNvPr id="14" name="Image 2" descr="/home/claude/shelfbound/assets/cart_crop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47304" y="1837944"/>
            <a:ext cx="3456432" cy="175564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8092440" y="3593592"/>
            <a:ext cx="3566160" cy="329184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16" name="Text 11"/>
          <p:cNvSpPr/>
          <p:nvPr/>
        </p:nvSpPr>
        <p:spPr>
          <a:xfrm>
            <a:off x="8092440" y="359359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02920" y="4206240"/>
            <a:ext cx="3566160" cy="2194560"/>
          </a:xfrm>
          <a:prstGeom prst="roundRect">
            <a:avLst>
              <a:gd name="adj" fmla="val 2500"/>
            </a:avLst>
          </a:prstGeom>
          <a:solidFill>
            <a:srgbClr val="121E4F"/>
          </a:solidFill>
          <a:ln/>
          <a:effectLst>
            <a:outerShdw sx="100000" sy="100000" kx="0" ky="0" algn="bl" rotWithShape="0" blurRad="76200" dist="25400" dir="5400000">
              <a:srgbClr val="111111">
                <a:alpha val="22000"/>
              </a:srgbClr>
            </a:outerShdw>
          </a:effectLst>
        </p:spPr>
      </p:sp>
      <p:pic>
        <p:nvPicPr>
          <p:cNvPr id="18" name="Image 3" descr="/home/claude/shelfbound/assets/checkout2_crop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57784" y="4261104"/>
            <a:ext cx="3456432" cy="1755648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02920" y="6016752"/>
            <a:ext cx="3566160" cy="329184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20" name="Text 14"/>
          <p:cNvSpPr/>
          <p:nvPr/>
        </p:nvSpPr>
        <p:spPr>
          <a:xfrm>
            <a:off x="502920" y="601675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297680" y="4206240"/>
            <a:ext cx="3566160" cy="2194560"/>
          </a:xfrm>
          <a:prstGeom prst="roundRect">
            <a:avLst>
              <a:gd name="adj" fmla="val 2500"/>
            </a:avLst>
          </a:prstGeom>
          <a:solidFill>
            <a:srgbClr val="121E4F"/>
          </a:solidFill>
          <a:ln/>
          <a:effectLst>
            <a:outerShdw sx="100000" sy="100000" kx="0" ky="0" algn="bl" rotWithShape="0" blurRad="76200" dist="25400" dir="5400000">
              <a:srgbClr val="111111">
                <a:alpha val="22000"/>
              </a:srgbClr>
            </a:outerShdw>
          </a:effectLst>
        </p:spPr>
      </p:sp>
      <p:pic>
        <p:nvPicPr>
          <p:cNvPr id="22" name="Image 4" descr="/home/claude/shelfbound/assets/wishlist_crop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52544" y="4261104"/>
            <a:ext cx="3456432" cy="1755648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4297680" y="6016752"/>
            <a:ext cx="3566160" cy="329184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24" name="Text 17"/>
          <p:cNvSpPr/>
          <p:nvPr/>
        </p:nvSpPr>
        <p:spPr>
          <a:xfrm>
            <a:off x="4297680" y="601675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8092440" y="4206240"/>
            <a:ext cx="3566160" cy="2194560"/>
          </a:xfrm>
          <a:prstGeom prst="roundRect">
            <a:avLst>
              <a:gd name="adj" fmla="val 2500"/>
            </a:avLst>
          </a:prstGeom>
          <a:solidFill>
            <a:srgbClr val="121E4F"/>
          </a:solidFill>
          <a:ln/>
          <a:effectLst>
            <a:outerShdw sx="100000" sy="100000" kx="0" ky="0" algn="bl" rotWithShape="0" blurRad="76200" dist="25400" dir="5400000">
              <a:srgbClr val="111111">
                <a:alpha val="22000"/>
              </a:srgbClr>
            </a:outerShdw>
          </a:effectLst>
        </p:spPr>
      </p:sp>
      <p:pic>
        <p:nvPicPr>
          <p:cNvPr id="26" name="Image 5" descr="/home/claude/shelfbound/assets/orders_crop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47304" y="4261104"/>
            <a:ext cx="3456432" cy="1755648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8092440" y="6016752"/>
            <a:ext cx="3566160" cy="329184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28" name="Text 20"/>
          <p:cNvSpPr/>
          <p:nvPr/>
        </p:nvSpPr>
        <p:spPr>
          <a:xfrm>
            <a:off x="8092440" y="601675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Orders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50292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ShelfBound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582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BEYOND THE BASICS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1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Features Added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394960" cy="4800600"/>
          </a:xfrm>
          <a:prstGeom prst="roundRect">
            <a:avLst>
              <a:gd name="adj" fmla="val 1524"/>
            </a:avLst>
          </a:prstGeom>
          <a:solidFill>
            <a:srgbClr val="F3F5FB"/>
          </a:solidFill>
          <a:ln w="12700">
            <a:solidFill>
              <a:srgbClr val="E1E4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56232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F5820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56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8745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Coupon Engine — WELCOME20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3134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a flat 20% discount on subtotal, live in both the cart and checkout order summary.</a:t>
            </a:r>
            <a:endParaRPr lang="en-US" sz="1100" dirty="0"/>
          </a:p>
        </p:txBody>
      </p:sp>
      <p:pic>
        <p:nvPicPr>
          <p:cNvPr id="9" name="Image 0" descr="/home/claude/shelfbound/assets/cart_cr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2926080"/>
            <a:ext cx="4846320" cy="32461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77240" y="2926080"/>
            <a:ext cx="4846320" cy="3246120"/>
          </a:xfrm>
          <a:prstGeom prst="rect">
            <a:avLst/>
          </a:prstGeom>
          <a:ln w="12700">
            <a:solidFill>
              <a:srgbClr val="E1E4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72200" y="1600200"/>
            <a:ext cx="5486400" cy="4800600"/>
          </a:xfrm>
          <a:prstGeom prst="roundRect">
            <a:avLst>
              <a:gd name="adj" fmla="val 1524"/>
            </a:avLst>
          </a:prstGeom>
          <a:solidFill>
            <a:srgbClr val="F3F5FB"/>
          </a:solidFill>
          <a:ln w="12700">
            <a:solidFill>
              <a:srgbClr val="E1E4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46520" y="1856232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1B2A6B"/>
          </a:solidFill>
          <a:ln/>
        </p:spPr>
      </p:sp>
      <p:sp>
        <p:nvSpPr>
          <p:cNvPr id="13" name="Text 10"/>
          <p:cNvSpPr/>
          <p:nvPr/>
        </p:nvSpPr>
        <p:spPr>
          <a:xfrm>
            <a:off x="6446520" y="1856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82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086600" y="18745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Control Panel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086600" y="231343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books &amp; stock, update order status, and reply to customer messages.</a:t>
            </a:r>
            <a:endParaRPr lang="en-US" sz="1100" dirty="0"/>
          </a:p>
        </p:txBody>
      </p:sp>
      <p:pic>
        <p:nvPicPr>
          <p:cNvPr id="16" name="Image 1" descr="/home/claude/shelfbound/assets/admindash_cro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46520" y="2926080"/>
            <a:ext cx="1463040" cy="237744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446520" y="2926080"/>
            <a:ext cx="1463040" cy="2377440"/>
          </a:xfrm>
          <a:prstGeom prst="rect">
            <a:avLst/>
          </a:prstGeom>
          <a:ln w="12700">
            <a:solidFill>
              <a:srgbClr val="E1E4E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46520" y="535838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pic>
        <p:nvPicPr>
          <p:cNvPr id="19" name="Image 2" descr="/home/claude/shelfbound/assets/manage_books_crop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83880" y="2926080"/>
            <a:ext cx="1463040" cy="237744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183880" y="2926080"/>
            <a:ext cx="1463040" cy="2377440"/>
          </a:xfrm>
          <a:prstGeom prst="rect">
            <a:avLst/>
          </a:prstGeom>
          <a:ln w="12700">
            <a:solidFill>
              <a:srgbClr val="E1E4EE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183880" y="535838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Books</a:t>
            </a:r>
            <a:endParaRPr lang="en-US" sz="950" dirty="0"/>
          </a:p>
        </p:txBody>
      </p:sp>
      <p:pic>
        <p:nvPicPr>
          <p:cNvPr id="22" name="Image 3" descr="/home/claude/shelfbound/assets/manage_messages_crop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921240" y="2926080"/>
            <a:ext cx="1463040" cy="237744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9921240" y="2926080"/>
            <a:ext cx="1463040" cy="2377440"/>
          </a:xfrm>
          <a:prstGeom prst="rect">
            <a:avLst/>
          </a:prstGeom>
          <a:ln w="12700">
            <a:solidFill>
              <a:srgbClr val="E1E4EE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9921240" y="535838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Replies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50292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ShelfBound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582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CLEVER PART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Coupon Discount Calculation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WELCOME20 recalculates subtotal, discount, and grand total in one pass — kept in sync across cart and checkout.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6675120" cy="4572000"/>
          </a:xfrm>
          <a:prstGeom prst="roundRect">
            <a:avLst>
              <a:gd name="adj" fmla="val 1200"/>
            </a:avLst>
          </a:prstGeom>
          <a:solidFill>
            <a:srgbClr val="10173D"/>
          </a:solidFill>
          <a:ln w="12700">
            <a:solidFill>
              <a:srgbClr val="2A36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11680"/>
            <a:ext cx="6126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B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CartServlet — applyCoupon()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582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subtotal = cartDao.getSubtotal(userId);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582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coupon = request.getParameter("coupon");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582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discount = 0.0;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582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("WELCOME20".equalsIgnoreCase(coupon)) {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discount = subtotal * 0.20;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session.setAttribute("couponError",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"Invalid or expired code");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582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shipping = 0.0; // free shipping, always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582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grandTotal = subtotal - discount + shipping;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session.setAttribute("discount", discount);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session.setAttribute("grandTotal", grandTotal);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response.sendRedirect("cart");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452360" y="1783080"/>
            <a:ext cx="4206240" cy="1371600"/>
          </a:xfrm>
          <a:prstGeom prst="roundRect">
            <a:avLst>
              <a:gd name="adj" fmla="val 4000"/>
            </a:avLst>
          </a:prstGeom>
          <a:solidFill>
            <a:srgbClr val="1E2A6B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0" y="1920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82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680960" y="22402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is recomputed from the live subtotal, not stored as a fixed value — stays correct even if quantities change after the coupon is applied.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452360" y="3291840"/>
            <a:ext cx="4206240" cy="1371600"/>
          </a:xfrm>
          <a:prstGeom prst="roundRect">
            <a:avLst>
              <a:gd name="adj" fmla="val 4000"/>
            </a:avLst>
          </a:prstGeom>
          <a:solidFill>
            <a:srgbClr val="1E2A6B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0" y="3429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82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Session-scoped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680960" y="37490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&amp; grand total live in session, so cart and checkout always show the same numbers without recalculating twice.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52360" y="4800600"/>
            <a:ext cx="4206240" cy="1371600"/>
          </a:xfrm>
          <a:prstGeom prst="roundRect">
            <a:avLst>
              <a:gd name="adj" fmla="val 4000"/>
            </a:avLst>
          </a:prstGeom>
          <a:solidFill>
            <a:srgbClr val="1E2A6B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0" y="4937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82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UI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680960" y="52578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₹1198 subtotal × 20% = ₹239.60 discount — matches exactly what renders on the cart and checkout screenshots.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ShelfBound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582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UNDER PRESSURE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1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Major Challenge Faced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DEEEA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admin updated an order's status from the Manage Orders panel, the change wasn't reliably reflected back on the customer's My Orders page — the status shown to the user lagged behind what the admin had just set.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97764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EAF7EF"/>
          </a:solidFill>
          <a:ln w="12700">
            <a:solidFill>
              <a:srgbClr val="BEE3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2062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452628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Traced it to the order list being served from a stale query result on the same request cycle as the update.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flow: AdminOrderServlet handles the status UPDATE, then does a redirect (not a forward) back to the orders view.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redirect forces a fresh GET + fresh SELECT, so both admin and customer views always read the current row.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6208" y="1527048"/>
            <a:ext cx="5495544" cy="4764024"/>
          </a:xfrm>
          <a:prstGeom prst="roundRect">
            <a:avLst>
              <a:gd name="adj" fmla="val 1152"/>
            </a:avLst>
          </a:prstGeom>
          <a:solidFill>
            <a:srgbClr val="121E4F"/>
          </a:solidFill>
          <a:ln/>
          <a:effectLst>
            <a:outerShdw sx="100000" sy="100000" kx="0" ky="0" algn="bl" rotWithShape="0" blurRad="76200" dist="25400" dir="5400000">
              <a:srgbClr val="111111">
                <a:alpha val="22000"/>
              </a:srgbClr>
            </a:outerShdw>
          </a:effectLst>
        </p:spPr>
      </p:sp>
      <p:pic>
        <p:nvPicPr>
          <p:cNvPr id="11" name="Image 0" descr="/home/claude/shelfbound/assets/manage_orders_cr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1600200"/>
            <a:ext cx="5349240" cy="46177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309360" y="630936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Orders — status dropdown (Pending → Shipped → Delivered)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0292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ShelfBound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21E4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582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You'll Add Next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22317A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2130552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F5820D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30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209397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 Tracking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45920" y="2496312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map navigation showing delivery progress, from dispatch to doorstep.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87452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22317A"/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0" y="2130552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F5820D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130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23760" y="209397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OTP Verification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223760" y="2496312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Phone/email OTP at login &amp; checkout for stronger identity verification.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420624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22317A"/>
          </a:solidFill>
          <a:ln/>
        </p:spPr>
      </p:sp>
      <p:sp>
        <p:nvSpPr>
          <p:cNvPr id="16" name="Shape 14"/>
          <p:cNvSpPr/>
          <p:nvPr/>
        </p:nvSpPr>
        <p:spPr>
          <a:xfrm>
            <a:off x="1005840" y="4462272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F5820D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462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45920" y="442569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 Gateway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45920" y="4828032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online payments (cards / UPI) alongside the current Cash-on-Delivery flow.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420624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22317A"/>
          </a:solidFill>
          <a:ln/>
        </p:spPr>
      </p:sp>
      <p:sp>
        <p:nvSpPr>
          <p:cNvPr id="21" name="Shape 19"/>
          <p:cNvSpPr/>
          <p:nvPr/>
        </p:nvSpPr>
        <p:spPr>
          <a:xfrm>
            <a:off x="6583680" y="4462272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F5820D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4462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23760" y="442569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 Replies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223760" y="4828032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replies to contact messages sent straight to the user's registered email, not just shown in-app.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ShelfBound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2026-07-12T07:28:46Z</dcterms:created>
  <dcterms:modified xsi:type="dcterms:W3CDTF">2026-07-12T07:28:46Z</dcterms:modified>
</cp:coreProperties>
</file>